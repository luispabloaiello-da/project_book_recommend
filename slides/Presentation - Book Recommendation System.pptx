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TC Avant Garde Gothic" charset="1" panose="020B0502020202020204"/>
      <p:regular r:id="rId18"/>
    </p:embeddedFont>
    <p:embeddedFont>
      <p:font typeface="TT Fors" charset="1" panose="020B0003030001020000"/>
      <p:regular r:id="rId19"/>
    </p:embeddedFont>
    <p:embeddedFont>
      <p:font typeface="TT Fors Bold" charset="1" panose="020B0003030001020000"/>
      <p:regular r:id="rId20"/>
    </p:embeddedFont>
    <p:embeddedFont>
      <p:font typeface="Lucida Console Semi-Bold" charset="1" panose="020B0809040504020204"/>
      <p:regular r:id="rId21"/>
    </p:embeddedFont>
    <p:embeddedFont>
      <p:font typeface="Lucida Console" charset="1" panose="020B0609040504020204"/>
      <p:regular r:id="rId22"/>
    </p:embeddedFont>
    <p:embeddedFont>
      <p:font typeface="ITC Avant Garde Gothic Bold" charset="1" panose="020B0802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9.jpeg" Type="http://schemas.openxmlformats.org/officeDocument/2006/relationships/image"/><Relationship Id="rId4" Target="../media/image30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583430"/>
            <a:chOff x="0" y="0"/>
            <a:chExt cx="13017500" cy="611124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93800"/>
              <a:ext cx="13017500" cy="4917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74"/>
                </a:lnSpc>
              </a:pPr>
              <a:r>
                <a:rPr lang="en-US" sz="9074" spc="-272">
                  <a:solidFill>
                    <a:srgbClr val="F0F3F5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Book Recommendation System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ANALYTICS BOOTCAMP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187364" y="830051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By Luis Pablo Aiello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142139" y="7758833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190640" y="8790974"/>
            <a:ext cx="71946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Data Analyst Student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" y="4603293"/>
            <a:ext cx="4010025" cy="1955165"/>
            <a:chOff x="0" y="0"/>
            <a:chExt cx="5346700" cy="26068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4007"/>
              <a:ext cx="53467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b="true" sz="2100" spc="-52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</a:t>
              </a:r>
              <a:r>
                <a:rPr lang="en-US" b="true" sz="2100" spc="-52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craped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 data from Goodreads and Open Library to gather information.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67475" y="4603293"/>
            <a:ext cx="4010025" cy="1583690"/>
            <a:chOff x="0" y="0"/>
            <a:chExt cx="5346700" cy="21115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4007"/>
              <a:ext cx="53467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b="true" sz="2100" spc="-52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</a:t>
              </a:r>
              <a:r>
                <a:rPr lang="en-US" b="true" sz="2100" spc="-52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leaned and merge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 data to create a unified dataset.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20575" y="4603293"/>
            <a:ext cx="4010025" cy="1955165"/>
            <a:chOff x="0" y="0"/>
            <a:chExt cx="5346700" cy="26068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4007"/>
              <a:ext cx="53467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We </a:t>
              </a:r>
              <a:r>
                <a:rPr lang="en-US" b="true" sz="2100" spc="-52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engineered features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 from genres and text for the recommendation system.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Project Overview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4375" y="3707943"/>
            <a:ext cx="819150" cy="446049"/>
            <a:chOff x="0" y="0"/>
            <a:chExt cx="1092200" cy="5947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467475" y="3707943"/>
            <a:ext cx="819150" cy="446049"/>
            <a:chOff x="0" y="0"/>
            <a:chExt cx="1092200" cy="594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220575" y="3707943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14375" y="8130083"/>
            <a:ext cx="4010025" cy="1583690"/>
            <a:chOff x="0" y="0"/>
            <a:chExt cx="5346700" cy="2111587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1154007"/>
              <a:ext cx="53467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Apply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b="true" sz="2100" spc="-52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unsupervised ML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 concepts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67475" y="8130083"/>
            <a:ext cx="4010025" cy="1583690"/>
            <a:chOff x="0" y="0"/>
            <a:chExt cx="5346700" cy="2111587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1154007"/>
              <a:ext cx="53467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Buil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d </a:t>
              </a:r>
              <a:r>
                <a:rPr lang="en-US" b="true" sz="2100" spc="-52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content-based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 re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commender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20575" y="8130083"/>
            <a:ext cx="4010025" cy="1212215"/>
            <a:chOff x="0" y="0"/>
            <a:chExt cx="5346700" cy="1616287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1154007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ploy a </a:t>
              </a:r>
              <a:r>
                <a:rPr lang="en-US" b="true" sz="2100" spc="-52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Streamlit </a:t>
              </a: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web app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14375" y="7234733"/>
            <a:ext cx="819150" cy="446049"/>
            <a:chOff x="0" y="0"/>
            <a:chExt cx="1092200" cy="5947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467475" y="7234733"/>
            <a:ext cx="819150" cy="446049"/>
            <a:chOff x="0" y="0"/>
            <a:chExt cx="1092200" cy="5947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220575" y="7234733"/>
            <a:ext cx="819150" cy="446049"/>
            <a:chOff x="0" y="0"/>
            <a:chExt cx="1092200" cy="5947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714375" y="2034719"/>
            <a:ext cx="688657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pc="-78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This pr</a:t>
            </a:r>
            <a:r>
              <a:rPr lang="en-US" sz="2600" spc="-78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</a:t>
            </a:r>
            <a:r>
              <a:rPr lang="en-US" sz="2600" spc="-78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ject builds an end-t</a:t>
            </a:r>
            <a:r>
              <a:rPr lang="en-US" sz="2600" spc="-78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</a:t>
            </a:r>
            <a:r>
              <a:rPr lang="en-US" sz="2600" spc="-78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-en</a:t>
            </a:r>
            <a:r>
              <a:rPr lang="en-US" sz="2600" spc="-78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</a:t>
            </a:r>
            <a:r>
              <a:rPr lang="en-US" sz="2600" spc="-78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pip</a:t>
            </a:r>
            <a:r>
              <a:rPr lang="en-US" sz="2600" spc="-78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2600" spc="-78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line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62000" y="2578278"/>
            <a:ext cx="16544925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 spc="-72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Scraping → Cl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aning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→ Feat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 Eng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neering → C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tering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→ Content-B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sed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Recomm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end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on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→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Str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eamli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 W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</a:t>
            </a:r>
            <a:r>
              <a:rPr lang="en-US" sz="2400" spc="-72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 App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706934"/>
            <a:ext cx="6886575" cy="1419225"/>
            <a:chOff x="0" y="0"/>
            <a:chExt cx="9182100" cy="1892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A1C4E8"/>
                  </a:solidFill>
                  <a:latin typeface="TT Fors"/>
                  <a:ea typeface="TT Fors"/>
                  <a:cs typeface="TT Fors"/>
                  <a:sym typeface="TT Fors"/>
                </a:rPr>
                <a:t>A popular platform for discovering and reviewing books globally.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Goodreads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4706934"/>
            <a:ext cx="6886575" cy="1419225"/>
            <a:chOff x="0" y="0"/>
            <a:chExt cx="9182100" cy="1892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A1C4E8"/>
                  </a:solidFill>
                  <a:latin typeface="TT Fors"/>
                  <a:ea typeface="TT Fors"/>
                  <a:cs typeface="TT Fors"/>
                  <a:sym typeface="TT Fors"/>
                </a:rPr>
                <a:t>An expansive online library offering free access to countless book resources.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Open Library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0F3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Sources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2468559"/>
            <a:ext cx="3717470" cy="1999097"/>
            <a:chOff x="0" y="0"/>
            <a:chExt cx="1869241" cy="10051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9241" cy="1005198"/>
            </a:xfrm>
            <a:custGeom>
              <a:avLst/>
              <a:gdLst/>
              <a:ahLst/>
              <a:cxnLst/>
              <a:rect r="r" b="b" t="t" l="l"/>
              <a:pathLst>
                <a:path h="1005198" w="1869241">
                  <a:moveTo>
                    <a:pt x="0" y="0"/>
                  </a:moveTo>
                  <a:lnTo>
                    <a:pt x="1869241" y="0"/>
                  </a:lnTo>
                  <a:lnTo>
                    <a:pt x="1869241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2"/>
              <a:stretch>
                <a:fillRect l="-140" t="0" r="-14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0" y="2468559"/>
            <a:ext cx="3717470" cy="1999097"/>
            <a:chOff x="0" y="0"/>
            <a:chExt cx="1869241" cy="10051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9241" cy="1005198"/>
            </a:xfrm>
            <a:custGeom>
              <a:avLst/>
              <a:gdLst/>
              <a:ahLst/>
              <a:cxnLst/>
              <a:rect r="r" b="b" t="t" l="l"/>
              <a:pathLst>
                <a:path h="1005198" w="1869241">
                  <a:moveTo>
                    <a:pt x="0" y="0"/>
                  </a:moveTo>
                  <a:lnTo>
                    <a:pt x="1869241" y="0"/>
                  </a:lnTo>
                  <a:lnTo>
                    <a:pt x="1869241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3"/>
              <a:stretch>
                <a:fillRect l="-140" t="0" r="-14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66750" y="6326184"/>
            <a:ext cx="6886575" cy="324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Loop over the Best Books Ever list pages.</a:t>
            </a:r>
          </a:p>
          <a:p>
            <a:pPr algn="l" marL="367032" indent="-183516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Extract: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Book title &amp; URL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Author name &amp; URL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Average rating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Number of ratings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Score &amp; votes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List rank</a:t>
            </a:r>
          </a:p>
          <a:p>
            <a:pPr algn="l" marL="367032" indent="-183516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For each book page: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Extract Genres (new layout tags).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Extract First published year from book details.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6326184"/>
            <a:ext cx="8477250" cy="339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Call search.json with the trending query: </a:t>
            </a:r>
          </a:p>
          <a:p>
            <a:pPr algn="l" marL="604528" indent="-201509" lvl="2">
              <a:lnSpc>
                <a:spcPts val="1960"/>
              </a:lnSpc>
              <a:buFont typeface="Arial"/>
              <a:buChar char="⚬"/>
            </a:pPr>
            <a:r>
              <a:rPr lang="en-US" b="true" sz="1400">
                <a:solidFill>
                  <a:srgbClr val="A1C4E8"/>
                </a:solidFill>
                <a:latin typeface="Lucida Console Semi-Bold"/>
                <a:ea typeface="Lucida Console Semi-Bold"/>
                <a:cs typeface="Lucida Console Semi-Bold"/>
                <a:sym typeface="Lucida Console Semi-Bold"/>
              </a:rPr>
              <a:t>trending_score_hourly_sum:[1 TO *] -subject:"content_warning:cover" language:eng -subject:"content_warning:cover" -subject:"content_warning:cover</a:t>
            </a:r>
            <a:r>
              <a:rPr lang="en-US" sz="1400">
                <a:solidFill>
                  <a:srgbClr val="A1C4E8"/>
                </a:solidFill>
                <a:latin typeface="Lucida Console"/>
                <a:ea typeface="Lucida Console"/>
                <a:cs typeface="Lucida Console"/>
                <a:sym typeface="Lucida Console"/>
              </a:rPr>
              <a:t>"</a:t>
            </a:r>
          </a:p>
          <a:p>
            <a:pPr algn="l" marL="367032" indent="-183516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Extract: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Title, author(s)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Ratings average &amp; count (if available)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trending_score_hourly_sum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Work key → build book URL.</a:t>
            </a:r>
          </a:p>
          <a:p>
            <a:pPr algn="l" marL="367032" indent="-183516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For each work URL:</a:t>
            </a:r>
          </a:p>
          <a:p>
            <a:pPr algn="l" marL="734064" indent="-244688" lvl="2">
              <a:lnSpc>
                <a:spcPts val="2380"/>
              </a:lnSpc>
              <a:buFont typeface="Arial"/>
              <a:buChar char="⚬"/>
            </a:pPr>
            <a:r>
              <a:rPr lang="en-US" sz="1700">
                <a:solidFill>
                  <a:srgbClr val="A1C4E8"/>
                </a:solidFill>
                <a:latin typeface="TT Fors"/>
                <a:ea typeface="TT Fors"/>
                <a:cs typeface="TT Fors"/>
                <a:sym typeface="TT Fors"/>
              </a:rPr>
              <a:t>Parse the Subjects block as genres.</a:t>
            </a:r>
          </a:p>
          <a:p>
            <a:pPr algn="l">
              <a:lnSpc>
                <a:spcPts val="23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448300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Scraping &amp; API Collection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666750"/>
            <a:ext cx="4010025" cy="2686050"/>
            <a:chOff x="0" y="0"/>
            <a:chExt cx="1047951" cy="7019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2"/>
              <a:stretch>
                <a:fillRect l="-174" t="0" r="-17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5355141"/>
            <a:ext cx="4010025" cy="2686050"/>
            <a:chOff x="0" y="0"/>
            <a:chExt cx="1047951" cy="701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3"/>
              <a:stretch>
                <a:fillRect l="-174" t="0" r="-17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611225" y="666750"/>
            <a:ext cx="4010025" cy="2686050"/>
            <a:chOff x="0" y="0"/>
            <a:chExt cx="1047951" cy="7019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4"/>
              <a:stretch>
                <a:fillRect l="-174" t="0" r="-17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5355141"/>
            <a:ext cx="4010025" cy="2686050"/>
            <a:chOff x="0" y="0"/>
            <a:chExt cx="1047951" cy="7019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5"/>
              <a:stretch>
                <a:fillRect l="-174" t="0" r="-17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96400" y="3665034"/>
            <a:ext cx="4010025" cy="1230725"/>
            <a:chOff x="0" y="0"/>
            <a:chExt cx="5346700" cy="16409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Using requests and BeautifulSoup for efficient data extraction.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Scraping Tools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8353425"/>
            <a:ext cx="4010025" cy="1230725"/>
            <a:chOff x="0" y="0"/>
            <a:chExt cx="5346700" cy="16409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Extracting essential book details from list and book pages.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Goodreads Pages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11225" y="3665034"/>
            <a:ext cx="4010025" cy="1230725"/>
            <a:chOff x="0" y="0"/>
            <a:chExt cx="5346700" cy="164096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Collecting data on trending books through an accessible API.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Open Library API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225" y="8353425"/>
            <a:ext cx="4010025" cy="1230725"/>
            <a:chOff x="0" y="0"/>
            <a:chExt cx="5346700" cy="164096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Implementing pauses and User-Agent for ethical scraping.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Respectful Practices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5448300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0F3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 Cleaning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666750"/>
            <a:ext cx="4010025" cy="2686050"/>
            <a:chOff x="0" y="0"/>
            <a:chExt cx="1047951" cy="7019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2"/>
              <a:stretch>
                <a:fillRect l="-174" t="0" r="-17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5355141"/>
            <a:ext cx="4010025" cy="2686050"/>
            <a:chOff x="0" y="0"/>
            <a:chExt cx="1047951" cy="701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3"/>
              <a:stretch>
                <a:fillRect l="-174" t="0" r="-17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611225" y="666750"/>
            <a:ext cx="4010025" cy="2686050"/>
            <a:chOff x="0" y="0"/>
            <a:chExt cx="1047951" cy="7019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4"/>
              <a:stretch>
                <a:fillRect l="-174" t="0" r="-17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5355141"/>
            <a:ext cx="4010025" cy="2686050"/>
            <a:chOff x="0" y="0"/>
            <a:chExt cx="1047951" cy="7019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5"/>
              <a:stretch>
                <a:fillRect l="-174" t="0" r="-17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96400" y="3665034"/>
            <a:ext cx="4010025" cy="1177651"/>
            <a:chOff x="0" y="0"/>
            <a:chExt cx="5346700" cy="157020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731520"/>
              <a:ext cx="5346700" cy="838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5"/>
                </a:lnSpc>
              </a:pPr>
              <a:r>
                <a:rPr lang="en-US" sz="1860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Clean titles and authors for consistent formatting and accuracy.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Normalize Titles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8353425"/>
            <a:ext cx="4010025" cy="1177651"/>
            <a:chOff x="0" y="0"/>
            <a:chExt cx="5346700" cy="157020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731520"/>
              <a:ext cx="5346700" cy="838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5"/>
                </a:lnSpc>
              </a:pPr>
              <a:r>
                <a:rPr lang="en-US" sz="1860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Convert all ratings to a consistent numeric scale for analysis.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Normalize Ratings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11225" y="3665034"/>
            <a:ext cx="4010025" cy="1177651"/>
            <a:chOff x="0" y="0"/>
            <a:chExt cx="5346700" cy="1570201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731520"/>
              <a:ext cx="5346700" cy="838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5"/>
                </a:lnSpc>
              </a:pPr>
              <a:r>
                <a:rPr lang="en-US" sz="1860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Remove entries lacking essential cleaned title or author data.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Drop Missing Rows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225" y="8353425"/>
            <a:ext cx="4010025" cy="1177651"/>
            <a:chOff x="0" y="0"/>
            <a:chExt cx="5346700" cy="1570201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31520"/>
              <a:ext cx="5346700" cy="8386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5"/>
                </a:lnSpc>
              </a:pPr>
              <a:r>
                <a:rPr lang="en-US" sz="1860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Ensure the ratings field is free of inconsistencies and errors.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Clean Ratings Field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66750" y="4402006"/>
            <a:ext cx="665642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-78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“Clean inputs are crucial for good recommendations.”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466208"/>
            <a:ext cx="819150" cy="446049"/>
            <a:chOff x="0" y="0"/>
            <a:chExt cx="1092200" cy="5947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66750" y="6031098"/>
            <a:ext cx="819150" cy="446049"/>
            <a:chOff x="0" y="0"/>
            <a:chExt cx="1092200" cy="5947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540820" y="2466208"/>
            <a:ext cx="819150" cy="446049"/>
            <a:chOff x="0" y="0"/>
            <a:chExt cx="1092200" cy="5947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779642" y="3045763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3361558"/>
            <a:ext cx="4010025" cy="1955165"/>
            <a:chOff x="0" y="0"/>
            <a:chExt cx="5346700" cy="260688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54007"/>
              <a:ext cx="53467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Lowercasing ensures consistency across genre entries for better matching.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6750" y="6926448"/>
            <a:ext cx="4010025" cy="1955165"/>
            <a:chOff x="0" y="0"/>
            <a:chExt cx="5346700" cy="260688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54007"/>
              <a:ext cx="53467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Replacing delimiters with separators simplifies the genre categorization process.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540820" y="3361558"/>
            <a:ext cx="4010025" cy="1955165"/>
            <a:chOff x="0" y="0"/>
            <a:chExt cx="5346700" cy="260688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154007"/>
              <a:ext cx="53467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Removing duplicates per book enhances the accuracy of recommendations.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66750" y="635007"/>
            <a:ext cx="16592550" cy="111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0"/>
              </a:lnSpc>
              <a:spcBef>
                <a:spcPct val="0"/>
              </a:spcBef>
            </a:pPr>
            <a:r>
              <a:rPr lang="en-US" sz="7300" spc="-219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Genre Normalization Process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460463" y="303229"/>
            <a:ext cx="4846643" cy="1791955"/>
            <a:chOff x="0" y="0"/>
            <a:chExt cx="6462190" cy="23892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540820" y="6031098"/>
            <a:ext cx="819150" cy="446049"/>
            <a:chOff x="0" y="0"/>
            <a:chExt cx="1092200" cy="5947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540820" y="6926448"/>
            <a:ext cx="4010025" cy="2326640"/>
            <a:chOff x="0" y="0"/>
            <a:chExt cx="5346700" cy="3102187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1154007"/>
              <a:ext cx="53467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Output: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`genres_list` (clean list)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spc="-52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`genres_clean` (readable string)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5254472"/>
            <a:ext cx="7431700" cy="4003828"/>
          </a:xfrm>
          <a:custGeom>
            <a:avLst/>
            <a:gdLst/>
            <a:ahLst/>
            <a:cxnLst/>
            <a:rect r="r" b="b" t="t" l="l"/>
            <a:pathLst>
              <a:path h="4003828" w="7431700">
                <a:moveTo>
                  <a:pt x="0" y="0"/>
                </a:moveTo>
                <a:lnTo>
                  <a:pt x="7431700" y="0"/>
                </a:lnTo>
                <a:lnTo>
                  <a:pt x="7431700" y="4003828"/>
                </a:lnTo>
                <a:lnTo>
                  <a:pt x="0" y="4003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3230385"/>
            <a:ext cx="6886575" cy="1419225"/>
            <a:chOff x="0" y="0"/>
            <a:chExt cx="9182100" cy="18923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A1C4E8"/>
                  </a:solidFill>
                  <a:latin typeface="TT Fors"/>
                  <a:ea typeface="TT Fors"/>
                  <a:cs typeface="TT Fors"/>
                  <a:sym typeface="TT Fors"/>
                </a:rPr>
                <a:t>Extracting features is essential for building effective recommendation systems.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Genre Lists &amp; Features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657225"/>
            <a:ext cx="688657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0F3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Feature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581025"/>
            <a:ext cx="8115300" cy="411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A1C4E8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TF (Term Frequency):</a:t>
            </a:r>
            <a:r>
              <a:rPr lang="en-US" sz="2100" spc="-63">
                <a:solidFill>
                  <a:srgbClr val="A1C4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63">
                <a:solidFill>
                  <a:srgbClr val="A1C4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Words that appear more often in a book’s text are more important for that book.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A1C4E8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IDF (Inverse Document Frequency):</a:t>
            </a:r>
            <a:r>
              <a:rPr lang="en-US" sz="2100" spc="-63">
                <a:solidFill>
                  <a:srgbClr val="A1C4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63">
                <a:solidFill>
                  <a:srgbClr val="A1C4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Words that appear in many books (like “book”, “novel”) are less special.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A1C4E8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TF-IDF</a:t>
            </a:r>
            <a:r>
              <a:rPr lang="en-US" sz="2100" spc="-63">
                <a:solidFill>
                  <a:srgbClr val="A1C4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is high when: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-63">
                <a:solidFill>
                  <a:srgbClr val="A1C4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 word is frequent in one book’s text.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 spc="-63">
                <a:solidFill>
                  <a:srgbClr val="A1C4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But not so common across all books.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496545"/>
            <a:ext cx="8115300" cy="411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5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Example: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5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title:  "The Hunger Games"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5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genres: "young adult, dystopia, fiction"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5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→ "the hunger games [young adult, dystopia, fiction]"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5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We store this in a column like text_for_keywords.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pc="-53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Why this is useful: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5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This gives us one compact “summary text” per book.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5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We can feed this into TF-IDF to find meaningful words.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56392" y="501607"/>
            <a:ext cx="6714053" cy="5211784"/>
          </a:xfrm>
          <a:custGeom>
            <a:avLst/>
            <a:gdLst/>
            <a:ahLst/>
            <a:cxnLst/>
            <a:rect r="r" b="b" t="t" l="l"/>
            <a:pathLst>
              <a:path h="5211784" w="6714053">
                <a:moveTo>
                  <a:pt x="0" y="0"/>
                </a:moveTo>
                <a:lnTo>
                  <a:pt x="6714053" y="0"/>
                </a:lnTo>
                <a:lnTo>
                  <a:pt x="6714053" y="5211784"/>
                </a:lnTo>
                <a:lnTo>
                  <a:pt x="0" y="5211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80699" y="6068469"/>
            <a:ext cx="12389746" cy="3716924"/>
          </a:xfrm>
          <a:custGeom>
            <a:avLst/>
            <a:gdLst/>
            <a:ahLst/>
            <a:cxnLst/>
            <a:rect r="r" b="b" t="t" l="l"/>
            <a:pathLst>
              <a:path h="3716924" w="12389746">
                <a:moveTo>
                  <a:pt x="0" y="0"/>
                </a:moveTo>
                <a:lnTo>
                  <a:pt x="12389746" y="0"/>
                </a:lnTo>
                <a:lnTo>
                  <a:pt x="12389746" y="3716924"/>
                </a:lnTo>
                <a:lnTo>
                  <a:pt x="0" y="3716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2119475"/>
            <a:ext cx="8477250" cy="1419225"/>
            <a:chOff x="0" y="0"/>
            <a:chExt cx="11303000" cy="18923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34720"/>
              <a:ext cx="113030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This technique effectively groups similar books by identifying patterns within features.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13030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Unsupervised ML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657225"/>
            <a:ext cx="8930648" cy="121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00"/>
              </a:lnSpc>
              <a:spcBef>
                <a:spcPct val="0"/>
              </a:spcBef>
            </a:pPr>
            <a:r>
              <a:rPr lang="en-US" sz="7900" spc="-237" strike="noStrike" u="none">
                <a:solidFill>
                  <a:srgbClr val="2A405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Clustering Process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132337"/>
            <a:ext cx="2698552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k = 3 -&gt; inertia: 17420.98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k = 4 -&gt; inertia: 15686.79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k = 5 -&gt; inertia: 14677.88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k = 6 -&gt; inertia: 13710.35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k = 7 -&gt; inertia: 12888.65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k = 8 -&gt; inertia: 11987.54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7044690"/>
            <a:ext cx="1784003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cluster_kmeans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0     98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1    184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2    432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3    221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5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4     75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187" y="3937141"/>
            <a:ext cx="819150" cy="446049"/>
            <a:chOff x="0" y="0"/>
            <a:chExt cx="1092200" cy="5947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22187" y="7215948"/>
            <a:ext cx="819150" cy="446049"/>
            <a:chOff x="0" y="0"/>
            <a:chExt cx="1092200" cy="5947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886575" y="7215948"/>
            <a:ext cx="819150" cy="446049"/>
            <a:chOff x="0" y="0"/>
            <a:chExt cx="1092200" cy="5947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046290" y="2071626"/>
            <a:ext cx="10205444" cy="4388341"/>
          </a:xfrm>
          <a:custGeom>
            <a:avLst/>
            <a:gdLst/>
            <a:ahLst/>
            <a:cxnLst/>
            <a:rect r="r" b="b" t="t" l="l"/>
            <a:pathLst>
              <a:path h="4388341" w="10205444">
                <a:moveTo>
                  <a:pt x="0" y="0"/>
                </a:moveTo>
                <a:lnTo>
                  <a:pt x="10205445" y="0"/>
                </a:lnTo>
                <a:lnTo>
                  <a:pt x="10205445" y="4388341"/>
                </a:lnTo>
                <a:lnTo>
                  <a:pt x="0" y="438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3937141"/>
            <a:ext cx="4010025" cy="1955165"/>
            <a:chOff x="0" y="0"/>
            <a:chExt cx="5346700" cy="260688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54007"/>
              <a:ext cx="53467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Content-based recommendations leverage book features and clustering information.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6750" y="7215948"/>
            <a:ext cx="4010025" cy="1955165"/>
            <a:chOff x="0" y="0"/>
            <a:chExt cx="5346700" cy="260688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54007"/>
              <a:ext cx="53467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Similarity between books is computed using feature vectors and metrics.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82194" y="7215948"/>
            <a:ext cx="4732116" cy="2326640"/>
            <a:chOff x="0" y="0"/>
            <a:chExt cx="6309488" cy="310218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154007"/>
              <a:ext cx="6309488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Use cosine similarity: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For a chosen book, find nearest neighbors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Top N most similar = recommendation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66675"/>
              <a:ext cx="4046465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66750" y="657225"/>
            <a:ext cx="14077950" cy="195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7000" spc="-210">
                <a:solidFill>
                  <a:srgbClr val="F0F3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Content-Based </a:t>
            </a:r>
            <a:r>
              <a:rPr lang="en-US" sz="7000" spc="-210" strike="noStrike" u="none">
                <a:solidFill>
                  <a:srgbClr val="F0F3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Recommend</a:t>
            </a:r>
            <a:r>
              <a:rPr lang="en-US" sz="7000" spc="-210" strike="noStrike" u="none">
                <a:solidFill>
                  <a:srgbClr val="F0F3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er</a:t>
            </a:r>
            <a:r>
              <a:rPr lang="en-US" sz="7000" spc="-210" strike="noStrike" u="none">
                <a:solidFill>
                  <a:srgbClr val="F0F3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  <a:r>
              <a:rPr lang="en-US" sz="7000" spc="-210" strike="noStrike" u="none">
                <a:solidFill>
                  <a:srgbClr val="F0F3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Logic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829550"/>
            <a:ext cx="5448300" cy="1419225"/>
            <a:chOff x="0" y="0"/>
            <a:chExt cx="7264400" cy="1892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934720"/>
              <a:ext cx="72644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Streamlit provides an </a:t>
              </a:r>
              <a:r>
                <a:rPr lang="en-US" b="true" sz="2100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intuitive platform</a:t>
              </a:r>
              <a:r>
                <a:rPr lang="en-US" sz="2100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 for creating interactive applications.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72644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Interactive Web App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7829550"/>
            <a:ext cx="5448300" cy="1419225"/>
            <a:chOff x="0" y="0"/>
            <a:chExt cx="7264400" cy="1892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34720"/>
              <a:ext cx="72644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Users can search, filter, and find recommendations based on genres.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72644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User-Friendly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7829550"/>
            <a:ext cx="5448300" cy="1419225"/>
            <a:chOff x="0" y="0"/>
            <a:chExt cx="7264400" cy="18923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34720"/>
              <a:ext cx="72644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Deploy your app on any hosting platform or </a:t>
              </a:r>
              <a:r>
                <a:rPr lang="en-US" b="true" sz="2100">
                  <a:solidFill>
                    <a:srgbClr val="2A4057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run it locally</a:t>
              </a:r>
              <a:r>
                <a:rPr lang="en-US" sz="2100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72644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Deployment Options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Streamlit Web App Features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2457450"/>
            <a:ext cx="5448300" cy="4476750"/>
            <a:chOff x="0" y="0"/>
            <a:chExt cx="1223347" cy="10051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3347" cy="1005198"/>
            </a:xfrm>
            <a:custGeom>
              <a:avLst/>
              <a:gdLst/>
              <a:ahLst/>
              <a:cxnLst/>
              <a:rect r="r" b="b" t="t" l="l"/>
              <a:pathLst>
                <a:path h="1005198" w="1223347">
                  <a:moveTo>
                    <a:pt x="0" y="0"/>
                  </a:moveTo>
                  <a:lnTo>
                    <a:pt x="1223347" y="0"/>
                  </a:lnTo>
                  <a:lnTo>
                    <a:pt x="1223347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2"/>
              <a:stretch>
                <a:fillRect l="-332" t="0" r="-33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19850" y="2457450"/>
            <a:ext cx="5448300" cy="4476750"/>
            <a:chOff x="0" y="0"/>
            <a:chExt cx="1223347" cy="10051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3347" cy="1005198"/>
            </a:xfrm>
            <a:custGeom>
              <a:avLst/>
              <a:gdLst/>
              <a:ahLst/>
              <a:cxnLst/>
              <a:rect r="r" b="b" t="t" l="l"/>
              <a:pathLst>
                <a:path h="1005198" w="1223347">
                  <a:moveTo>
                    <a:pt x="0" y="0"/>
                  </a:moveTo>
                  <a:lnTo>
                    <a:pt x="1223347" y="0"/>
                  </a:lnTo>
                  <a:lnTo>
                    <a:pt x="1223347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3"/>
              <a:stretch>
                <a:fillRect l="-332" t="0" r="-332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72950" y="2457450"/>
            <a:ext cx="5448300" cy="4476750"/>
            <a:chOff x="0" y="0"/>
            <a:chExt cx="1223347" cy="10051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23347" cy="1005198"/>
            </a:xfrm>
            <a:custGeom>
              <a:avLst/>
              <a:gdLst/>
              <a:ahLst/>
              <a:cxnLst/>
              <a:rect r="r" b="b" t="t" l="l"/>
              <a:pathLst>
                <a:path h="1005198" w="1223347">
                  <a:moveTo>
                    <a:pt x="0" y="0"/>
                  </a:moveTo>
                  <a:lnTo>
                    <a:pt x="1223347" y="0"/>
                  </a:lnTo>
                  <a:lnTo>
                    <a:pt x="1223347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829550"/>
            <a:ext cx="5448300" cy="1419225"/>
            <a:chOff x="0" y="0"/>
            <a:chExt cx="7264400" cy="1892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934720"/>
              <a:ext cx="72644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Efficient collection of data from multiple sources for analysis.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72644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Scraping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7829550"/>
            <a:ext cx="5448300" cy="1419225"/>
            <a:chOff x="0" y="0"/>
            <a:chExt cx="7264400" cy="1892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34720"/>
              <a:ext cx="72644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Thorough process to ensure accuracy and consistency of data.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72644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Cleaning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7829550"/>
            <a:ext cx="5448300" cy="1419225"/>
            <a:chOff x="0" y="0"/>
            <a:chExt cx="7264400" cy="18923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34720"/>
              <a:ext cx="72644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0F3F5"/>
                  </a:solidFill>
                  <a:latin typeface="TT Fors"/>
                  <a:ea typeface="TT Fors"/>
                  <a:cs typeface="TT Fors"/>
                  <a:sym typeface="TT Fors"/>
                </a:rPr>
                <a:t>Transforming raw data into usable formats for recommendations.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72644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A1C4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Feature Engineering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0F3F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Project Summary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2457450"/>
            <a:ext cx="5448300" cy="4476750"/>
            <a:chOff x="0" y="0"/>
            <a:chExt cx="1223347" cy="10051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3347" cy="1005198"/>
            </a:xfrm>
            <a:custGeom>
              <a:avLst/>
              <a:gdLst/>
              <a:ahLst/>
              <a:cxnLst/>
              <a:rect r="r" b="b" t="t" l="l"/>
              <a:pathLst>
                <a:path h="1005198" w="1223347">
                  <a:moveTo>
                    <a:pt x="0" y="0"/>
                  </a:moveTo>
                  <a:lnTo>
                    <a:pt x="1223347" y="0"/>
                  </a:lnTo>
                  <a:lnTo>
                    <a:pt x="1223347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2"/>
              <a:stretch>
                <a:fillRect l="-332" t="0" r="-33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19850" y="2457450"/>
            <a:ext cx="5448300" cy="4476750"/>
            <a:chOff x="0" y="0"/>
            <a:chExt cx="1223347" cy="10051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3347" cy="1005198"/>
            </a:xfrm>
            <a:custGeom>
              <a:avLst/>
              <a:gdLst/>
              <a:ahLst/>
              <a:cxnLst/>
              <a:rect r="r" b="b" t="t" l="l"/>
              <a:pathLst>
                <a:path h="1005198" w="1223347">
                  <a:moveTo>
                    <a:pt x="0" y="0"/>
                  </a:moveTo>
                  <a:lnTo>
                    <a:pt x="1223347" y="0"/>
                  </a:lnTo>
                  <a:lnTo>
                    <a:pt x="1223347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3"/>
              <a:stretch>
                <a:fillRect l="-332" t="0" r="-332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72950" y="2457450"/>
            <a:ext cx="5448300" cy="4476750"/>
            <a:chOff x="0" y="0"/>
            <a:chExt cx="1223347" cy="10051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23347" cy="1005198"/>
            </a:xfrm>
            <a:custGeom>
              <a:avLst/>
              <a:gdLst/>
              <a:ahLst/>
              <a:cxnLst/>
              <a:rect r="r" b="b" t="t" l="l"/>
              <a:pathLst>
                <a:path h="1005198" w="1223347">
                  <a:moveTo>
                    <a:pt x="0" y="0"/>
                  </a:moveTo>
                  <a:lnTo>
                    <a:pt x="1223347" y="0"/>
                  </a:lnTo>
                  <a:lnTo>
                    <a:pt x="1223347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4"/>
              <a:stretch>
                <a:fillRect l="-332" t="0" r="-332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688657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5F8EB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 for Your Attention!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2457450"/>
            <a:ext cx="6886575" cy="899177"/>
            <a:chOff x="0" y="0"/>
            <a:chExt cx="9182100" cy="119890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Email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84527"/>
              <a:ext cx="91821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hello@reallygreatsite.com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4248150"/>
            <a:ext cx="6886575" cy="899177"/>
            <a:chOff x="0" y="0"/>
            <a:chExt cx="9182100" cy="119890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Social Media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84527"/>
              <a:ext cx="91821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@reallygreatsite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6039535"/>
            <a:ext cx="6886575" cy="899177"/>
            <a:chOff x="0" y="0"/>
            <a:chExt cx="9182100" cy="119890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91821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A4057"/>
                  </a:solidFill>
                  <a:latin typeface="TT Fors"/>
                  <a:ea typeface="TT Fors"/>
                  <a:cs typeface="TT Fors"/>
                  <a:sym typeface="TT Fors"/>
                </a:rPr>
                <a:t>Phone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84527"/>
              <a:ext cx="91821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5F8EB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123-456-7890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Book Recommendation System</dc:description>
  <dc:identifier>DAG4Xyd8ELI</dc:identifier>
  <dcterms:modified xsi:type="dcterms:W3CDTF">2011-08-01T06:04:30Z</dcterms:modified>
  <cp:revision>1</cp:revision>
  <dc:title>Presentation - Book Recommendation System</dc:title>
</cp:coreProperties>
</file>